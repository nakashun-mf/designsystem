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8F3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-365760" y="5303520"/>
            <a:ext cx="2926080" cy="1828800"/>
          </a:xfrm>
          <a:prstGeom prst="ellipse">
            <a:avLst/>
          </a:prstGeom>
          <a:solidFill>
            <a:srgbClr val="D2E6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1097280" y="5577840"/>
            <a:ext cx="3474720" cy="201168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9326880" y="-548640"/>
            <a:ext cx="3200400" cy="2011680"/>
          </a:xfrm>
          <a:prstGeom prst="ellipse">
            <a:avLst/>
          </a:prstGeom>
          <a:solidFill>
            <a:srgbClr val="D2E6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10058400" y="-182880"/>
            <a:ext cx="2743200" cy="1645920"/>
          </a:xfrm>
          <a:prstGeom prst="ellipse">
            <a:avLst/>
          </a:prstGeom>
          <a:solidFill>
            <a:srgbClr val="EEF6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731520" y="1463040"/>
            <a:ext cx="10698480" cy="384048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1005840" y="1783080"/>
            <a:ext cx="1463040" cy="347472"/>
          </a:xfrm>
          <a:prstGeom prst="roundRect">
            <a:avLst>
              <a:gd name="adj" fmla="val 50000"/>
            </a:avLst>
          </a:prstGeom>
          <a:solidFill>
            <a:srgbClr val="E8380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05840" y="1819656"/>
            <a:ext cx="14630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Yu Gothic"/>
              </a:rPr>
              <a:t>基本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05840" y="2286000"/>
            <a:ext cx="98755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>
                <a:solidFill>
                  <a:srgbClr val="00315E"/>
                </a:solidFill>
                <a:latin typeface="Yu Gothic"/>
              </a:rPr>
              <a:t>せいぎデザイン 基本セット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05840" y="3474720"/>
            <a:ext cx="98755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5A6B78"/>
                </a:solidFill>
                <a:latin typeface="Yu Gothic"/>
              </a:rPr>
              <a:t>表紙・アジェンダ・締めまで揃えるスターター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05840" y="4572000"/>
            <a:ext cx="9875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3477B6"/>
                </a:solidFill>
                <a:latin typeface="Yu Gothic"/>
              </a:rPr>
              <a:t>大成工業株式会社　生産技術室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6446520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5A6B78"/>
                </a:solidFill>
                <a:latin typeface="Yu Gothic"/>
              </a:rPr>
              <a:t>大成工業株式会社 / 生産技術室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601200" y="6446520"/>
            <a:ext cx="2103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5A6B78"/>
                </a:solidFill>
                <a:latin typeface="Yu Gothic"/>
              </a:rPr>
              <a:t>せいぎデザイン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57200" y="6355080"/>
            <a:ext cx="11247120" cy="20000"/>
          </a:xfrm>
          <a:prstGeom prst="rect">
            <a:avLst/>
          </a:prstGeom>
          <a:solidFill>
            <a:srgbClr val="D5E2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8F3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-365760" y="5303520"/>
            <a:ext cx="2926080" cy="1828800"/>
          </a:xfrm>
          <a:prstGeom prst="ellipse">
            <a:avLst/>
          </a:prstGeom>
          <a:solidFill>
            <a:srgbClr val="D2E6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1097280" y="5577840"/>
            <a:ext cx="3474720" cy="201168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9326880" y="-548640"/>
            <a:ext cx="3200400" cy="2011680"/>
          </a:xfrm>
          <a:prstGeom prst="ellipse">
            <a:avLst/>
          </a:prstGeom>
          <a:solidFill>
            <a:srgbClr val="D2E6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10058400" y="-182880"/>
            <a:ext cx="2743200" cy="1645920"/>
          </a:xfrm>
          <a:prstGeom prst="ellipse">
            <a:avLst/>
          </a:prstGeom>
          <a:solidFill>
            <a:srgbClr val="EEF6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0031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164592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FFFFFF"/>
                </a:solidFill>
                <a:latin typeface="Yu Gothic"/>
              </a:rPr>
              <a:t>アジェンダ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0" y="201168"/>
            <a:ext cx="31089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200" b="0">
                <a:solidFill>
                  <a:srgbClr val="E8F3FB"/>
                </a:solidFill>
                <a:latin typeface="Yu Gothic"/>
              </a:rPr>
              <a:t>生産技術室 · せいぎデザイン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" y="1188720"/>
            <a:ext cx="10881360" cy="475488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05840" y="1554480"/>
            <a:ext cx="100584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2000">
                <a:solidFill>
                  <a:srgbClr val="1F2A33"/>
                </a:solidFill>
                <a:latin typeface="Yu Gothic"/>
              </a:rPr>
              <a:t>• 本日の目的</a:t>
            </a:r>
          </a:p>
          <a:p>
            <a:pPr algn="l">
              <a:spcAft>
                <a:spcPts val="800"/>
              </a:spcAft>
            </a:pPr>
            <a:r>
              <a:rPr sz="2000">
                <a:solidFill>
                  <a:srgbClr val="1F2A33"/>
                </a:solidFill>
                <a:latin typeface="Yu Gothic"/>
              </a:rPr>
              <a:t>• 現状共有</a:t>
            </a:r>
          </a:p>
          <a:p>
            <a:pPr algn="l">
              <a:spcAft>
                <a:spcPts val="800"/>
              </a:spcAft>
            </a:pPr>
            <a:r>
              <a:rPr sz="2000">
                <a:solidFill>
                  <a:srgbClr val="1F2A33"/>
                </a:solidFill>
                <a:latin typeface="Yu Gothic"/>
              </a:rPr>
              <a:t>• 論点整理</a:t>
            </a:r>
          </a:p>
          <a:p>
            <a:pPr algn="l">
              <a:spcAft>
                <a:spcPts val="800"/>
              </a:spcAft>
            </a:pPr>
            <a:r>
              <a:rPr sz="2000">
                <a:solidFill>
                  <a:srgbClr val="1F2A33"/>
                </a:solidFill>
                <a:latin typeface="Yu Gothic"/>
              </a:rPr>
              <a:t>• 次アクション</a:t>
            </a:r>
          </a:p>
          <a:p>
            <a:pPr algn="l">
              <a:spcAft>
                <a:spcPts val="800"/>
              </a:spcAft>
            </a:pPr>
            <a:r>
              <a:rPr sz="2000">
                <a:solidFill>
                  <a:srgbClr val="1F2A33"/>
                </a:solidFill>
                <a:latin typeface="Yu Gothic"/>
              </a:rPr>
              <a:t>• クロージング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6446520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5A6B78"/>
                </a:solidFill>
                <a:latin typeface="Yu Gothic"/>
              </a:rPr>
              <a:t>大成工業株式会社 / 生産技術室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601200" y="6446520"/>
            <a:ext cx="2103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5A6B78"/>
                </a:solidFill>
                <a:latin typeface="Yu Gothic"/>
              </a:rPr>
              <a:t>2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57200" y="6355080"/>
            <a:ext cx="11247120" cy="20000"/>
          </a:xfrm>
          <a:prstGeom prst="rect">
            <a:avLst/>
          </a:prstGeom>
          <a:solidFill>
            <a:srgbClr val="D5E2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8F3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-365760" y="5303520"/>
            <a:ext cx="2926080" cy="1828800"/>
          </a:xfrm>
          <a:prstGeom prst="ellipse">
            <a:avLst/>
          </a:prstGeom>
          <a:solidFill>
            <a:srgbClr val="D2E6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1097280" y="5577840"/>
            <a:ext cx="3474720" cy="201168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9326880" y="-548640"/>
            <a:ext cx="3200400" cy="2011680"/>
          </a:xfrm>
          <a:prstGeom prst="ellipse">
            <a:avLst/>
          </a:prstGeom>
          <a:solidFill>
            <a:srgbClr val="D2E6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10058400" y="-182880"/>
            <a:ext cx="2743200" cy="1645920"/>
          </a:xfrm>
          <a:prstGeom prst="ellipse">
            <a:avLst/>
          </a:prstGeom>
          <a:solidFill>
            <a:srgbClr val="EEF6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0031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164592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FFFFFF"/>
                </a:solidFill>
                <a:latin typeface="Yu Gothic"/>
              </a:rPr>
              <a:t>本日の目的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0" y="201168"/>
            <a:ext cx="31089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200" b="0">
                <a:solidFill>
                  <a:srgbClr val="E8F3FB"/>
                </a:solidFill>
                <a:latin typeface="Yu Gothic"/>
              </a:rPr>
              <a:t>生産技術室 · せいぎデザイン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1828800"/>
            <a:ext cx="10698480" cy="292608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97280" y="2377440"/>
            <a:ext cx="987552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0">
                <a:solidFill>
                  <a:srgbClr val="1F2A33"/>
                </a:solidFill>
                <a:latin typeface="Yu Gothic"/>
              </a:rPr>
              <a:t>参加者が同じゴールを持てるよう、1文で目的を書く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6446520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5A6B78"/>
                </a:solidFill>
                <a:latin typeface="Yu Gothic"/>
              </a:rPr>
              <a:t>大成工業株式会社 / 生産技術室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601200" y="6446520"/>
            <a:ext cx="2103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5A6B78"/>
                </a:solidFill>
                <a:latin typeface="Yu Gothic"/>
              </a:rPr>
              <a:t>3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57200" y="6355080"/>
            <a:ext cx="11247120" cy="20000"/>
          </a:xfrm>
          <a:prstGeom prst="rect">
            <a:avLst/>
          </a:prstGeom>
          <a:solidFill>
            <a:srgbClr val="D5E2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8F3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-365760" y="5303520"/>
            <a:ext cx="2926080" cy="1828800"/>
          </a:xfrm>
          <a:prstGeom prst="ellipse">
            <a:avLst/>
          </a:prstGeom>
          <a:solidFill>
            <a:srgbClr val="D2E6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1097280" y="5577840"/>
            <a:ext cx="3474720" cy="201168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9326880" y="-548640"/>
            <a:ext cx="3200400" cy="2011680"/>
          </a:xfrm>
          <a:prstGeom prst="ellipse">
            <a:avLst/>
          </a:prstGeom>
          <a:solidFill>
            <a:srgbClr val="D2E6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10058400" y="-182880"/>
            <a:ext cx="2743200" cy="1645920"/>
          </a:xfrm>
          <a:prstGeom prst="ellipse">
            <a:avLst/>
          </a:prstGeom>
          <a:solidFill>
            <a:srgbClr val="EEF6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0031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164592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FFFFFF"/>
                </a:solidFill>
                <a:latin typeface="Yu Gothic"/>
              </a:rPr>
              <a:t>ポイント整理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0" y="201168"/>
            <a:ext cx="31089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200" b="0">
                <a:solidFill>
                  <a:srgbClr val="E8F3FB"/>
                </a:solidFill>
                <a:latin typeface="Yu Gothic"/>
              </a:rPr>
              <a:t>生産技術室 · せいぎデザイン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" y="1188720"/>
            <a:ext cx="5212080" cy="4754880"/>
          </a:xfrm>
          <a:prstGeom prst="roundRect">
            <a:avLst>
              <a:gd name="adj" fmla="val 18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68680" y="1371600"/>
            <a:ext cx="4846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00315E"/>
                </a:solidFill>
                <a:latin typeface="Yu Gothic"/>
              </a:rPr>
              <a:t>伝えること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68680" y="1783080"/>
            <a:ext cx="4800600" cy="3931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1400">
                <a:solidFill>
                  <a:srgbClr val="1F2A33"/>
                </a:solidFill>
                <a:latin typeface="Yu Gothic"/>
              </a:rPr>
              <a:t>• 背景</a:t>
            </a:r>
          </a:p>
          <a:p>
            <a:pPr algn="l">
              <a:spcAft>
                <a:spcPts val="800"/>
              </a:spcAft>
            </a:pPr>
            <a:r>
              <a:rPr sz="1400">
                <a:solidFill>
                  <a:srgbClr val="1F2A33"/>
                </a:solidFill>
                <a:latin typeface="Yu Gothic"/>
              </a:rPr>
              <a:t>• 結論先出し</a:t>
            </a:r>
          </a:p>
          <a:p>
            <a:pPr algn="l">
              <a:spcAft>
                <a:spcPts val="800"/>
              </a:spcAft>
            </a:pPr>
            <a:r>
              <a:rPr sz="1400">
                <a:solidFill>
                  <a:srgbClr val="1F2A33"/>
                </a:solidFill>
                <a:latin typeface="Yu Gothic"/>
              </a:rPr>
              <a:t>• 根拠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17920" y="1188720"/>
            <a:ext cx="5212080" cy="4754880"/>
          </a:xfrm>
          <a:prstGeom prst="roundRect">
            <a:avLst>
              <a:gd name="adj" fmla="val 18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46520" y="1371600"/>
            <a:ext cx="4846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00315E"/>
                </a:solidFill>
                <a:latin typeface="Yu Gothic"/>
              </a:rPr>
              <a:t>確認すること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46520" y="1783080"/>
            <a:ext cx="4800600" cy="3931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1400">
                <a:solidFill>
                  <a:srgbClr val="1F2A33"/>
                </a:solidFill>
                <a:latin typeface="Yu Gothic"/>
              </a:rPr>
              <a:t>• 前提</a:t>
            </a:r>
          </a:p>
          <a:p>
            <a:pPr algn="l">
              <a:spcAft>
                <a:spcPts val="800"/>
              </a:spcAft>
            </a:pPr>
            <a:r>
              <a:rPr sz="1400">
                <a:solidFill>
                  <a:srgbClr val="1F2A33"/>
                </a:solidFill>
                <a:latin typeface="Yu Gothic"/>
              </a:rPr>
              <a:t>• 制約</a:t>
            </a:r>
          </a:p>
          <a:p>
            <a:pPr algn="l">
              <a:spcAft>
                <a:spcPts val="800"/>
              </a:spcAft>
            </a:pPr>
            <a:r>
              <a:rPr sz="1400">
                <a:solidFill>
                  <a:srgbClr val="1F2A33"/>
                </a:solidFill>
                <a:latin typeface="Yu Gothic"/>
              </a:rPr>
              <a:t>• 期限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" y="6446520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5A6B78"/>
                </a:solidFill>
                <a:latin typeface="Yu Gothic"/>
              </a:rPr>
              <a:t>大成工業株式会社 / 生産技術室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601200" y="6446520"/>
            <a:ext cx="2103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5A6B78"/>
                </a:solidFill>
                <a:latin typeface="Yu Gothic"/>
              </a:rPr>
              <a:t>4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57200" y="6355080"/>
            <a:ext cx="11247120" cy="20000"/>
          </a:xfrm>
          <a:prstGeom prst="rect">
            <a:avLst/>
          </a:prstGeom>
          <a:solidFill>
            <a:srgbClr val="D5E2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8F3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-365760" y="5303520"/>
            <a:ext cx="2926080" cy="1828800"/>
          </a:xfrm>
          <a:prstGeom prst="ellipse">
            <a:avLst/>
          </a:prstGeom>
          <a:solidFill>
            <a:srgbClr val="D2E6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1097280" y="5577840"/>
            <a:ext cx="3474720" cy="201168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9326880" y="-548640"/>
            <a:ext cx="3200400" cy="2011680"/>
          </a:xfrm>
          <a:prstGeom prst="ellipse">
            <a:avLst/>
          </a:prstGeom>
          <a:solidFill>
            <a:srgbClr val="D2E6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10058400" y="-182880"/>
            <a:ext cx="2743200" cy="1645920"/>
          </a:xfrm>
          <a:prstGeom prst="ellipse">
            <a:avLst/>
          </a:prstGeom>
          <a:solidFill>
            <a:srgbClr val="EEF6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0031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164592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FFFFFF"/>
                </a:solidFill>
                <a:latin typeface="Yu Gothic"/>
              </a:rPr>
              <a:t>クロージング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0" y="201168"/>
            <a:ext cx="31089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200" b="0">
                <a:solidFill>
                  <a:srgbClr val="E8F3FB"/>
                </a:solidFill>
                <a:latin typeface="Yu Gothic"/>
              </a:rPr>
              <a:t>生産技術室 · せいぎデザイン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" y="1188720"/>
            <a:ext cx="10881360" cy="475488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05840" y="1554480"/>
            <a:ext cx="100584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2000">
                <a:solidFill>
                  <a:srgbClr val="1F2A33"/>
                </a:solidFill>
                <a:latin typeface="Yu Gothic"/>
              </a:rPr>
              <a:t>• 決定事項の確認</a:t>
            </a:r>
          </a:p>
          <a:p>
            <a:pPr algn="l">
              <a:spcAft>
                <a:spcPts val="800"/>
              </a:spcAft>
            </a:pPr>
            <a:r>
              <a:rPr sz="2000">
                <a:solidFill>
                  <a:srgbClr val="1F2A33"/>
                </a:solidFill>
                <a:latin typeface="Yu Gothic"/>
              </a:rPr>
              <a:t>• 宿題と担当</a:t>
            </a:r>
          </a:p>
          <a:p>
            <a:pPr algn="l">
              <a:spcAft>
                <a:spcPts val="800"/>
              </a:spcAft>
            </a:pPr>
            <a:r>
              <a:rPr sz="2000">
                <a:solidFill>
                  <a:srgbClr val="1F2A33"/>
                </a:solidFill>
                <a:latin typeface="Yu Gothic"/>
              </a:rPr>
              <a:t>• 次回予定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6446520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5A6B78"/>
                </a:solidFill>
                <a:latin typeface="Yu Gothic"/>
              </a:rPr>
              <a:t>大成工業株式会社 / 生産技術室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601200" y="6446520"/>
            <a:ext cx="2103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5A6B78"/>
                </a:solidFill>
                <a:latin typeface="Yu Gothic"/>
              </a:rPr>
              <a:t>5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57200" y="6355080"/>
            <a:ext cx="11247120" cy="20000"/>
          </a:xfrm>
          <a:prstGeom prst="rect">
            <a:avLst/>
          </a:prstGeom>
          <a:solidFill>
            <a:srgbClr val="D5E2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8F3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-365760" y="5303520"/>
            <a:ext cx="2926080" cy="1828800"/>
          </a:xfrm>
          <a:prstGeom prst="ellipse">
            <a:avLst/>
          </a:prstGeom>
          <a:solidFill>
            <a:srgbClr val="D2E6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1097280" y="5577840"/>
            <a:ext cx="3474720" cy="201168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9326880" y="-548640"/>
            <a:ext cx="3200400" cy="2011680"/>
          </a:xfrm>
          <a:prstGeom prst="ellipse">
            <a:avLst/>
          </a:prstGeom>
          <a:solidFill>
            <a:srgbClr val="D2E6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10058400" y="-182880"/>
            <a:ext cx="2743200" cy="1645920"/>
          </a:xfrm>
          <a:prstGeom prst="ellipse">
            <a:avLst/>
          </a:prstGeom>
          <a:solidFill>
            <a:srgbClr val="EEF6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731520" y="1463040"/>
            <a:ext cx="10698480" cy="384048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1005840" y="1783080"/>
            <a:ext cx="1463040" cy="347472"/>
          </a:xfrm>
          <a:prstGeom prst="roundRect">
            <a:avLst>
              <a:gd name="adj" fmla="val 50000"/>
            </a:avLst>
          </a:prstGeom>
          <a:solidFill>
            <a:srgbClr val="E8380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05840" y="1819656"/>
            <a:ext cx="14630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Yu Gothic"/>
              </a:rPr>
              <a:t>Thanks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05840" y="2286000"/>
            <a:ext cx="98755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>
                <a:solidFill>
                  <a:srgbClr val="00315E"/>
                </a:solidFill>
                <a:latin typeface="Yu Gothic"/>
              </a:rPr>
              <a:t>ご清聴ありがとうございました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05840" y="3474720"/>
            <a:ext cx="98755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5A6B78"/>
                </a:solidFill>
                <a:latin typeface="Yu Gothic"/>
              </a:rPr>
              <a:t>大成工業株式会社 / 生産技術室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05840" y="4572000"/>
            <a:ext cx="9875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3477B6"/>
                </a:solidFill>
                <a:latin typeface="Yu Gothic"/>
              </a:rPr>
              <a:t>大成工業株式会社　生産技術室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6446520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5A6B78"/>
                </a:solidFill>
                <a:latin typeface="Yu Gothic"/>
              </a:rPr>
              <a:t>大成工業株式会社 / 生産技術室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601200" y="6446520"/>
            <a:ext cx="2103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5A6B78"/>
                </a:solidFill>
                <a:latin typeface="Yu Gothic"/>
              </a:rPr>
              <a:t>せいぎデザイン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57200" y="6355080"/>
            <a:ext cx="11247120" cy="20000"/>
          </a:xfrm>
          <a:prstGeom prst="rect">
            <a:avLst/>
          </a:prstGeom>
          <a:solidFill>
            <a:srgbClr val="D5E2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
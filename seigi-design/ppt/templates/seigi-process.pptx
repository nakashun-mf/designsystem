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731520" y="1463040"/>
            <a:ext cx="10698480" cy="38404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Rounded Rectangle 6"/>
          <p:cNvSpPr/>
          <p:nvPr/>
        </p:nvSpPr>
        <p:spPr>
          <a:xfrm>
            <a:off x="1005840" y="1783080"/>
            <a:ext cx="1463040" cy="347472"/>
          </a:xfrm>
          <a:prstGeom prst="roundRect">
            <a:avLst>
              <a:gd name="adj" fmla="val 50000"/>
            </a:avLst>
          </a:prstGeom>
          <a:solidFill>
            <a:srgbClr val="E8380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05840" y="1819656"/>
            <a:ext cx="146304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200" b="1">
                <a:solidFill>
                  <a:srgbClr val="FFFFFF"/>
                </a:solidFill>
                <a:latin typeface="Yu Gothic"/>
              </a:rPr>
              <a:t>工程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05840" y="2286000"/>
            <a:ext cx="98755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600" b="1">
                <a:solidFill>
                  <a:srgbClr val="00315E"/>
                </a:solidFill>
                <a:latin typeface="Yu Gothic"/>
              </a:rPr>
              <a:t>工程・設備説明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05840" y="3474720"/>
            <a:ext cx="987552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>
                <a:solidFill>
                  <a:srgbClr val="5A6B78"/>
                </a:solidFill>
                <a:latin typeface="Yu Gothic"/>
              </a:rPr>
              <a:t>流れとポイントをやわらかく・はっきり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05840" y="4572000"/>
            <a:ext cx="98755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>
                <a:solidFill>
                  <a:srgbClr val="3477B6"/>
                </a:solidFill>
                <a:latin typeface="Yu Gothic"/>
              </a:rPr>
              <a:t>大成工業株式会社　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せいぎデザイン</a:t>
            </a:r>
          </a:p>
        </p:txBody>
      </p:sp>
      <p:sp>
        <p:nvSpPr>
          <p:cNvPr id="14" name="Rectangle 13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工程フロー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投入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加工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検査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出荷／次工程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2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設備概要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86868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仕様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868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型式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能力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設置場所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217920" y="1188720"/>
            <a:ext cx="5212080" cy="4754880"/>
          </a:xfrm>
          <a:prstGeom prst="roundRect">
            <a:avLst>
              <a:gd name="adj" fmla="val 18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446520" y="1371600"/>
            <a:ext cx="4846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1">
                <a:solidFill>
                  <a:srgbClr val="00315E"/>
                </a:solidFill>
                <a:latin typeface="Yu Gothic"/>
              </a:rPr>
              <a:t>ポイント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446520" y="1783080"/>
            <a:ext cx="4800600" cy="3931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安全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品質</a:t>
            </a:r>
          </a:p>
          <a:p>
            <a:pPr algn="l">
              <a:spcAft>
                <a:spcPts val="800"/>
              </a:spcAft>
            </a:pPr>
            <a:r>
              <a:rPr sz="1400">
                <a:solidFill>
                  <a:srgbClr val="1F2A33"/>
                </a:solidFill>
                <a:latin typeface="Yu Gothic"/>
              </a:rPr>
              <a:t>• 保全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3</a:t>
            </a:r>
          </a:p>
        </p:txBody>
      </p:sp>
      <p:sp>
        <p:nvSpPr>
          <p:cNvPr id="17" name="Rectangle 16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E8F3FB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Oval 1"/>
          <p:cNvSpPr/>
          <p:nvPr/>
        </p:nvSpPr>
        <p:spPr>
          <a:xfrm>
            <a:off x="-365760" y="5303520"/>
            <a:ext cx="2926080" cy="182880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Oval 2"/>
          <p:cNvSpPr/>
          <p:nvPr/>
        </p:nvSpPr>
        <p:spPr>
          <a:xfrm>
            <a:off x="1097280" y="5577840"/>
            <a:ext cx="3474720" cy="2011680"/>
          </a:xfrm>
          <a:prstGeom prst="ellipse">
            <a:avLst/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Oval 3"/>
          <p:cNvSpPr/>
          <p:nvPr/>
        </p:nvSpPr>
        <p:spPr>
          <a:xfrm>
            <a:off x="9326880" y="-548640"/>
            <a:ext cx="3200400" cy="2011680"/>
          </a:xfrm>
          <a:prstGeom prst="ellipse">
            <a:avLst/>
          </a:prstGeom>
          <a:solidFill>
            <a:srgbClr val="D2E6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Oval 4"/>
          <p:cNvSpPr/>
          <p:nvPr/>
        </p:nvSpPr>
        <p:spPr>
          <a:xfrm>
            <a:off x="10058400" y="-182880"/>
            <a:ext cx="2743200" cy="1645920"/>
          </a:xfrm>
          <a:prstGeom prst="ellipse">
            <a:avLst/>
          </a:prstGeom>
          <a:solidFill>
            <a:srgbClr val="EEF6F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0" y="0"/>
            <a:ext cx="12191695" cy="777240"/>
          </a:xfrm>
          <a:prstGeom prst="rect">
            <a:avLst/>
          </a:prstGeom>
          <a:solidFill>
            <a:srgbClr val="00315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457200" y="164592"/>
            <a:ext cx="82296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>
                <a:solidFill>
                  <a:srgbClr val="FFFFFF"/>
                </a:solidFill>
                <a:latin typeface="Yu Gothic"/>
              </a:rPr>
              <a:t>説明のコツ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201168"/>
            <a:ext cx="310896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200" b="0">
                <a:solidFill>
                  <a:srgbClr val="E8F3FB"/>
                </a:solidFill>
                <a:latin typeface="Yu Gothic"/>
              </a:rPr>
              <a:t>生産技術室 · せいぎデザイン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640080" y="1188720"/>
            <a:ext cx="10881360" cy="475488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05840" y="1554480"/>
            <a:ext cx="10058400" cy="4114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写真＋一言注釈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数字は大きく</a:t>
            </a:r>
          </a:p>
          <a:p>
            <a:pPr algn="l">
              <a:spcAft>
                <a:spcPts val="800"/>
              </a:spcAft>
            </a:pPr>
            <a:r>
              <a:rPr sz="2000">
                <a:solidFill>
                  <a:srgbClr val="1F2A33"/>
                </a:solidFill>
                <a:latin typeface="Yu Gothic"/>
              </a:rPr>
              <a:t>• 注意は赤アクセント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46520"/>
            <a:ext cx="822960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>
                <a:solidFill>
                  <a:srgbClr val="5A6B78"/>
                </a:solidFill>
                <a:latin typeface="Yu Gothic"/>
              </a:rPr>
              <a:t>大成工業株式会社 / 生産技術室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601200" y="6446520"/>
            <a:ext cx="2103120" cy="274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sz="1100" b="0">
                <a:solidFill>
                  <a:srgbClr val="5A6B78"/>
                </a:solidFill>
                <a:latin typeface="Yu Gothic"/>
              </a:rPr>
              <a:t>4</a:t>
            </a:r>
          </a:p>
        </p:txBody>
      </p:sp>
      <p:sp>
        <p:nvSpPr>
          <p:cNvPr id="13" name="Rectangle 12"/>
          <p:cNvSpPr/>
          <p:nvPr/>
        </p:nvSpPr>
        <p:spPr>
          <a:xfrm>
            <a:off x="457200" y="6355080"/>
            <a:ext cx="11247120" cy="20000"/>
          </a:xfrm>
          <a:prstGeom prst="rect">
            <a:avLst/>
          </a:prstGeom>
          <a:solidFill>
            <a:srgbClr val="D5E2EC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